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7fcd266f94a3c" /><Relationship Type="http://schemas.openxmlformats.org/officeDocument/2006/relationships/extended-properties" Target="/docProps/app.xml" Id="R4b6decb01a324e5b" /><Relationship Type="http://schemas.openxmlformats.org/officeDocument/2006/relationships/officeDocument" Target="/ppt/presentation.xml" Id="R44409ffd894e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d17ea020f4384"/>
  </p:sldMasterIdLst>
  <p:notesMasterIdLst>
    <p:notesMasterId xmlns:r="http://schemas.openxmlformats.org/officeDocument/2006/relationships" r:id="Re21861f3897f4945"/>
  </p:notesMasterIdLst>
  <p:sldIdLst>
    <p:sldId xmlns:r="http://schemas.openxmlformats.org/officeDocument/2006/relationships" id="256" r:id="R37a4dcdb32b849e9"/>
    <p:sldId xmlns:r="http://schemas.openxmlformats.org/officeDocument/2006/relationships" id="257" r:id="R0c93e4a1d0bb4d85"/>
    <p:sldId xmlns:r="http://schemas.openxmlformats.org/officeDocument/2006/relationships" id="258" r:id="Redbe0f3bcfcc4304"/>
    <p:sldId xmlns:r="http://schemas.openxmlformats.org/officeDocument/2006/relationships" id="259" r:id="R2c9bdfed04234139"/>
    <p:sldId xmlns:r="http://schemas.openxmlformats.org/officeDocument/2006/relationships" id="260" r:id="Re7fcdf72d71c475f"/>
    <p:sldId xmlns:r="http://schemas.openxmlformats.org/officeDocument/2006/relationships" id="261" r:id="R6428607045c84655"/>
    <p:sldId xmlns:r="http://schemas.openxmlformats.org/officeDocument/2006/relationships" id="262" r:id="R17fc9ca5b0be4d27"/>
    <p:sldId xmlns:r="http://schemas.openxmlformats.org/officeDocument/2006/relationships" id="263" r:id="Re5f5753e1d664301"/>
    <p:sldId xmlns:r="http://schemas.openxmlformats.org/officeDocument/2006/relationships" id="264" r:id="Rce62d13c45774335"/>
    <p:sldId xmlns:r="http://schemas.openxmlformats.org/officeDocument/2006/relationships" id="265" r:id="R940c6eaf0ad94ad3"/>
    <p:sldId xmlns:r="http://schemas.openxmlformats.org/officeDocument/2006/relationships" id="266" r:id="Raad0978e460748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e9afa212146d9" /><Relationship Type="http://schemas.openxmlformats.org/officeDocument/2006/relationships/slideMaster" Target="/ppt/slideMasters/slideMaster1.xml" Id="R6b2d17ea020f4384" /><Relationship Type="http://schemas.openxmlformats.org/officeDocument/2006/relationships/notesMaster" Target="/ppt/notesMasters/notesMaster1.xml" Id="Re21861f3897f4945" /><Relationship Type="http://schemas.openxmlformats.org/officeDocument/2006/relationships/presProps" Target="/ppt/presProps.xml" Id="Rbf79b88ba58a4a12" /><Relationship Type="http://schemas.openxmlformats.org/officeDocument/2006/relationships/tableStyles" Target="/ppt/tableStyles.xml" Id="Rf7c56f12a602424d" /><Relationship Type="http://schemas.openxmlformats.org/officeDocument/2006/relationships/slide" Target="/ppt/slides/slide1.xml" Id="R37a4dcdb32b849e9" /><Relationship Type="http://schemas.openxmlformats.org/officeDocument/2006/relationships/slide" Target="/ppt/slides/slide2.xml" Id="R0c93e4a1d0bb4d85" /><Relationship Type="http://schemas.openxmlformats.org/officeDocument/2006/relationships/slide" Target="/ppt/slides/slide3.xml" Id="Redbe0f3bcfcc4304" /><Relationship Type="http://schemas.openxmlformats.org/officeDocument/2006/relationships/slide" Target="/ppt/slides/slide4.xml" Id="R2c9bdfed04234139" /><Relationship Type="http://schemas.openxmlformats.org/officeDocument/2006/relationships/slide" Target="/ppt/slides/slide5.xml" Id="Re7fcdf72d71c475f" /><Relationship Type="http://schemas.openxmlformats.org/officeDocument/2006/relationships/slide" Target="/ppt/slides/slide6.xml" Id="R6428607045c84655" /><Relationship Type="http://schemas.openxmlformats.org/officeDocument/2006/relationships/slide" Target="/ppt/slides/slide7.xml" Id="R17fc9ca5b0be4d27" /><Relationship Type="http://schemas.openxmlformats.org/officeDocument/2006/relationships/slide" Target="/ppt/slides/slide8.xml" Id="Re5f5753e1d664301" /><Relationship Type="http://schemas.openxmlformats.org/officeDocument/2006/relationships/slide" Target="/ppt/slides/slide9.xml" Id="Rce62d13c45774335" /><Relationship Type="http://schemas.openxmlformats.org/officeDocument/2006/relationships/slide" Target="/ppt/slides/slide10.xml" Id="R940c6eaf0ad94ad3" /><Relationship Type="http://schemas.openxmlformats.org/officeDocument/2006/relationships/slide" Target="/ppt/slides/slide11.xml" Id="Raad0978e4607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549a2f099f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96d1f8c9be4d04" /><Relationship Type="http://schemas.openxmlformats.org/officeDocument/2006/relationships/notesMaster" Target="/ppt/notesMasters/notesMaster1.xml" Id="R20f7bfcef94846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a4195995e4153" /><Relationship Type="http://schemas.openxmlformats.org/officeDocument/2006/relationships/notesMaster" Target="/ppt/notesMasters/notesMaster1.xml" Id="Ra0c6f4d79969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c854d2f4c4a00" /><Relationship Type="http://schemas.openxmlformats.org/officeDocument/2006/relationships/notesMaster" Target="/ppt/notesMasters/notesMaster1.xml" Id="R195a1d3df631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32f23fe2f40e9" /><Relationship Type="http://schemas.openxmlformats.org/officeDocument/2006/relationships/notesMaster" Target="/ppt/notesMasters/notesMaster1.xml" Id="Ra1330774fe8c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370551f6a4353" /><Relationship Type="http://schemas.openxmlformats.org/officeDocument/2006/relationships/notesMaster" Target="/ppt/notesMasters/notesMaster1.xml" Id="R1be3f740aca6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8bd42dd56c439f" /><Relationship Type="http://schemas.openxmlformats.org/officeDocument/2006/relationships/notesMaster" Target="/ppt/notesMasters/notesMaster1.xml" Id="R0c89500c181840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ec8bcccc87445b" /><Relationship Type="http://schemas.openxmlformats.org/officeDocument/2006/relationships/notesMaster" Target="/ppt/notesMasters/notesMaster1.xml" Id="R38d109fb8f79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7f4794dc4849bf" /><Relationship Type="http://schemas.openxmlformats.org/officeDocument/2006/relationships/notesMaster" Target="/ppt/notesMasters/notesMaster1.xml" Id="R3e988db541194f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244c1a8ec4622" /><Relationship Type="http://schemas.openxmlformats.org/officeDocument/2006/relationships/notesMaster" Target="/ppt/notesMasters/notesMaster1.xml" Id="R57324e996f57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fe1969af74c2e" /><Relationship Type="http://schemas.openxmlformats.org/officeDocument/2006/relationships/notesMaster" Target="/ppt/notesMasters/notesMaster1.xml" Id="R9c6b5c53c672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65372432e64b96" /><Relationship Type="http://schemas.openxmlformats.org/officeDocument/2006/relationships/notesMaster" Target="/ppt/notesMasters/notesMaster1.xml" Id="Rd8a8144219c6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f26965c6740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212e53ee284c1f" /><Relationship Type="http://schemas.openxmlformats.org/officeDocument/2006/relationships/slideLayout" Target="/ppt/slideLayouts/slideLayout1.xml" Id="R5210a27499a7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0a27499a7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f02c219db4dd1" /><Relationship Type="http://schemas.openxmlformats.org/officeDocument/2006/relationships/image" Target="/ppt/media/image.jpeg" Id="R46b2c4ea5f4a481e" /><Relationship Type="http://schemas.openxmlformats.org/officeDocument/2006/relationships/notesSlide" Target="/ppt/notesSlides/notesSlide1.xml" Id="R78323cf829ef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45679baf84256" /><Relationship Type="http://schemas.openxmlformats.org/officeDocument/2006/relationships/notesSlide" Target="/ppt/notesSlides/notesSlide2.xml" Id="R21b4f17d3426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c3e122b6f4a30" /><Relationship Type="http://schemas.openxmlformats.org/officeDocument/2006/relationships/notesSlide" Target="/ppt/notesSlides/notesSlide3.xml" Id="R1f0e9494c8f94a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e14597982405b" /><Relationship Type="http://schemas.openxmlformats.org/officeDocument/2006/relationships/image" Target="/ppt/media/image2.jpeg" Id="R4b6a4aa7bf464c47" /><Relationship Type="http://schemas.openxmlformats.org/officeDocument/2006/relationships/notesSlide" Target="/ppt/notesSlides/notesSlide4.xml" Id="R9ee205db6f69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2731f7cc64421" /><Relationship Type="http://schemas.openxmlformats.org/officeDocument/2006/relationships/image" Target="/ppt/media/image3.jpeg" Id="Re6929a5a4e144a3f" /><Relationship Type="http://schemas.openxmlformats.org/officeDocument/2006/relationships/notesSlide" Target="/ppt/notesSlides/notesSlide5.xml" Id="Rf885a9db30c0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eb98fb46457a" /><Relationship Type="http://schemas.openxmlformats.org/officeDocument/2006/relationships/image" Target="/ppt/media/image4.jpeg" Id="Rd70793f56c1c490c" /><Relationship Type="http://schemas.openxmlformats.org/officeDocument/2006/relationships/notesSlide" Target="/ppt/notesSlides/notesSlide6.xml" Id="R305f0b6fb3464e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6d3626d9e4c16" /><Relationship Type="http://schemas.openxmlformats.org/officeDocument/2006/relationships/image" Target="/ppt/media/image5.jpeg" Id="Rd66448927e354b09" /><Relationship Type="http://schemas.openxmlformats.org/officeDocument/2006/relationships/notesSlide" Target="/ppt/notesSlides/notesSlide7.xml" Id="R7f7c15d0843f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1fb7704ab4075" /><Relationship Type="http://schemas.openxmlformats.org/officeDocument/2006/relationships/notesSlide" Target="/ppt/notesSlides/notesSlide8.xml" Id="R068d3664181742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5e3dfe7634caa" /><Relationship Type="http://schemas.openxmlformats.org/officeDocument/2006/relationships/notesSlide" Target="/ppt/notesSlides/notesSlide9.xml" Id="R5cb41ccddb9c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5f7b9d1e04054" /><Relationship Type="http://schemas.openxmlformats.org/officeDocument/2006/relationships/notesSlide" Target="/ppt/notesSlides/notesSlide10.xml" Id="R39af4cf331fd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5ac889edb4b05" /><Relationship Type="http://schemas.openxmlformats.org/officeDocument/2006/relationships/notesSlide" Target="/ppt/notesSlides/notesSlide11.xml" Id="Rbafd3cfaa373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2c4ea5f4a481e"/>
          <a:srcRect xmlns:a="http://schemas.openxmlformats.org/drawingml/2006/main" l="17808" t="0" r="17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92EAD308-F685-4382-BAA5-D6A576A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4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E839789-F353-446F-BFBF-A31B08F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35DF2143-95B8-4E25-AA51-8F6C6E9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ENDPOINTWARD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424F7731-CC8C-487E-968A-FBB9BAB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6667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Security stays local.
Fleet control stays ours.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49304BF-1186-438B-AC08-0177D38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Management briefing • Endpoint v0.16.3 • HQ v0.4.2</a:t>
            </a:r>
          </a:p>
        </p:txBody>
      </p:sp>
      <p:sp>
        <p:nvSpPr>
          <p:cNvPr id="7" name="deck-description">
            <a:extLst xmlns:a="http://schemas.openxmlformats.org/drawingml/2006/main">
              <a:ext uri="{FF2B5EF4-FFF2-40B4-BE49-F238E27FC236}">
                <a16:creationId xmlns:a16="http://schemas.microsoft.com/office/drawing/2014/main" id="{FB695C40-E65F-441C-8966-E3EFA9EA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57825"/>
            <a:ext cx="619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Open-source, offline-first Windows protection with optional on-premises operations.</a:t>
            </a:r>
          </a:p>
        </p:txBody>
      </p:sp>
    </p:spTree>
    <p:extLst>
      <p:ext uri="{BB962C8B-B14F-4D97-AF65-F5344CB8AC3E}">
        <p14:creationId xmlns:p14="http://schemas.microsoft.com/office/powerpoint/2010/main" val="77941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EBB45A2-E39F-4DE9-AF83-2950F6FE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WHY THIS MATTERS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117D83-B5B7-40C9-A45E-7412A9B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37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Fragile state turns endpoint security into an operational risk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AD573B5-91A7-4705-948B-FD6113E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5D936F-15D1-4393-BA1E-DE24F91A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5DD0CF-0858-4E3A-8B71-FFD71EC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A2D3ED-04B7-4CF2-97F4-8038DBD2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Connectivity changes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D8DB52-AD0F-410B-A039-81C8581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285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Sleep, hibernate, network changes, and server outages can leave a client appearing offline.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D88054-4341-4605-B2FC-DFF40C5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C33E76-1157-44F5-8D61-02C5FEC1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436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Upgrades overwrite context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71B18D-72A7-4C35-8CA3-44800D0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00300"/>
            <a:ext cx="285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0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Settings, identity, logs, quarantine, and enrollment must survive Setup unless migration intentionally changes them.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353C14-E07E-431A-9FEA-8FEEEB7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4331AD-1E6C-49AF-81AD-B2408AC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Administration needs guardrails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BA02B7-7854-4015-83B2-7B640F4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2476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Critical changes and uninstall need controlled authorization without exposing a remote shell.</a:t>
            </a:r>
          </a:p>
        </p:txBody>
      </p:sp>
      <p:sp>
        <p:nvSpPr>
          <p:cNvPr id="14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DAD0CFEB-CCD1-4198-BA78-55FB245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11353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65CF41-25E1-45DA-B24D-F6F4497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The solution must stay protective while disconnected, reconnect cleanly, preserve history through upgrades, and make every sensitive action explicit.</a:t>
            </a:r>
          </a:p>
        </p:txBody>
      </p:sp>
    </p:spTree>
    <p:extLst>
      <p:ext uri="{BB962C8B-B14F-4D97-AF65-F5344CB8AC3E}">
        <p14:creationId xmlns:p14="http://schemas.microsoft.com/office/powerpoint/2010/main" val="1799305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819F0BA-4C4E-4E86-8DFC-99B2C3E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SOLUTION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CB188-CEF9-47B2-91FD-5A921C0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Two computers, one controlled operating model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A60589A-AD6F-4979-AABE-67C2B6E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064B57C-614C-4197-A0B0-90D82EA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endpoint-node">
            <a:extLst xmlns:a="http://schemas.openxmlformats.org/drawingml/2006/main">
              <a:ext uri="{FF2B5EF4-FFF2-40B4-BE49-F238E27FC236}">
                <a16:creationId xmlns:a16="http://schemas.microsoft.com/office/drawing/2014/main" id="{56AA6B2A-EFAC-470E-9700-1B10875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38576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295BF2-9634-46EE-B0B7-6B212CF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7645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D3A9"/>
                </a:solidFill>
                <a:latin typeface="Arial"/>
                <a:ea typeface="Arial"/>
                <a:cs typeface="Arial"/>
              </a:defRPr>
            </a:pPr>
            <a:r>
              <a:t>WINDOWS ENDPOINT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ABE44A-8367-4A74-9FE6-8599A06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5270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9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Local protection continues without HQ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B1E71A-1FC3-451C-8CD9-12DBDA0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314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EE2"/>
                </a:solidFill>
                <a:latin typeface="Arial"/>
                <a:ea typeface="Arial"/>
                <a:cs typeface="Arial"/>
              </a:defRPr>
            </a:pPr>
            <a:r>
              <a:t>Scanning • behavioral monitoring • encrypted quarantine • local threat intelligence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F9001E-7EA1-4CD1-9B2B-AF3BB39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0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908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CERTIFICATE-PINNED HTTPS  →</a:t>
            </a:r>
          </a:p>
        </p:txBody>
      </p:sp>
      <p:sp>
        <p:nvSpPr>
          <p:cNvPr id="10" name="hq-node">
            <a:extLst xmlns:a="http://schemas.openxmlformats.org/drawingml/2006/main">
              <a:ext uri="{FF2B5EF4-FFF2-40B4-BE49-F238E27FC236}">
                <a16:creationId xmlns:a16="http://schemas.microsoft.com/office/drawing/2014/main" id="{C242C62C-CA73-466B-858B-17B4CD3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886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4B0B20-AA87-4486-850E-6648B0F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ON-PREMISES HQ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110491-4527-49E3-8082-A0E23F1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7257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Visibility and control remain inside the organization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7074EB-75F4-40EF-BCE9-F90CBBF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314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Approved enrollment • health telemetry • alerts • allowlisted response • signed updates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744E2C-7379-454F-BEAF-D0938003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7543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18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LAN discovery and explicit firewall rules make the server findable across separate PCs.</a:t>
            </a:r>
          </a:p>
        </p:txBody>
      </p:sp>
    </p:spTree>
    <p:extLst>
      <p:ext uri="{BB962C8B-B14F-4D97-AF65-F5344CB8AC3E}">
        <p14:creationId xmlns:p14="http://schemas.microsoft.com/office/powerpoint/2010/main" val="1742953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a4aa7bf464c47"/>
          <a:stretch xmlns:a="http://schemas.openxmlformats.org/drawingml/2006/main"/>
        </p:blipFill>
        <p:spPr>
          <a:xfrm xmlns:a="http://schemas.openxmlformats.org/drawingml/2006/main">
            <a:off x="1512810" y="1428750"/>
            <a:ext cx="5013480" cy="47625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3C2B9F6-3953-4447-B724-42EE76B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CLIENT EXPERIENCE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0F504-DC33-4490-83A7-C9DFC59D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The endpoint makes local security posture clear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FC67D3D-CFF9-4DAE-9B84-10A795E1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FD8D8D-61BA-41D1-95DD-085D1BE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CB9CD4-5F3E-4464-95AE-C186775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What the user sees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9F751B-EBBE-48E8-9610-8C8C0ED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67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Active protection and security score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462ED9-5D40-40F3-9F3C-93425D5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File, network, behavior, signature, quarantine, and audit health in one place.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CA44BE-CCC9-450D-B2D2-8CBE561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Actionable, not noisy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C7B225-C88E-49BF-A1AD-C4A2785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The action center prioritizes attention while normal protection remains unobtrusive.</a:t>
            </a:r>
          </a:p>
        </p:txBody>
      </p:sp>
    </p:spTree>
    <p:extLst>
      <p:ext uri="{BB962C8B-B14F-4D97-AF65-F5344CB8AC3E}">
        <p14:creationId xmlns:p14="http://schemas.microsoft.com/office/powerpoint/2010/main" val="384498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29a5a4e144a3f"/>
          <a:stretch xmlns:a="http://schemas.openxmlformats.org/drawingml/2006/main"/>
        </p:blipFill>
        <p:spPr>
          <a:xfrm xmlns:a="http://schemas.openxmlformats.org/drawingml/2006/main">
            <a:off x="5625100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6C08B62-150E-4682-8F18-A367F335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POLICY TRANSPARENCY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85E43-EEB1-4443-B82A-8A14778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15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Sensitive settings show when authorization is required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2B5FF18-EDEF-4D60-9F8D-6E71087A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B1CE99-6604-4342-A3BE-3CA8251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authorization">
            <a:extLst xmlns:a="http://schemas.openxmlformats.org/drawingml/2006/main">
              <a:ext uri="{FF2B5EF4-FFF2-40B4-BE49-F238E27FC236}">
                <a16:creationId xmlns:a16="http://schemas.microsoft.com/office/drawing/2014/main" id="{A0BAC3F4-D27B-48A4-8087-B5EA7FC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3486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49A545-D5CA-41FE-8647-07FF7E2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Visible status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701501-26EE-42F8-83B9-08C33295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9527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770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Works now • password required • HQ offline • compatibility checking • upgrade required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E5A007-EE0A-4F4D-9BA1-F6535F41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2350"/>
            <a:ext cx="3486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75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Managed endpoints can request an administrator-approved password within a strict 20-second window.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8178B7-1C8B-4D57-A08B-3FA953B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3486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4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Standalone endpoints remain locally authorized. Managed endpoints enforce HQ policy for critical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1803805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793f56c1c490c"/>
          <a:stretch xmlns:a="http://schemas.openxmlformats.org/drawingml/2006/main"/>
        </p:blipFill>
        <p:spPr>
          <a:xfrm xmlns:a="http://schemas.openxmlformats.org/drawingml/2006/main">
            <a:off x="1462675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BB2E671-57C8-4567-B8BD-A835395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SERVER EXPERIENCE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181A7-1663-4C03-8CAB-39FB932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9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HQ turns endpoint signals into an operations queue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CA64C09-855B-47D8-90F9-140816E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FFFC8CA-5048-4513-AD5F-39198964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FDC53A-0AF6-4FAB-AF9E-A77BCC79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One operational view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B2A527-487C-4D56-9E8E-B499D4E2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323850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Enrollment, online state, pending approval, and active alerts are immediately visible.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0F8B72-5935-4BF5-8A01-1F94B9D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Response remains bounded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0A217B-9FC4-407D-A475-E5C259F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238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HQ queues approved scans, repair, database updates, and signed client updates. There is no arbitrary remote shell API.</a:t>
            </a:r>
          </a:p>
        </p:txBody>
      </p:sp>
    </p:spTree>
    <p:extLst>
      <p:ext uri="{BB962C8B-B14F-4D97-AF65-F5344CB8AC3E}">
        <p14:creationId xmlns:p14="http://schemas.microsoft.com/office/powerpoint/2010/main" val="370162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448927e354b09"/>
          <a:stretch xmlns:a="http://schemas.openxmlformats.org/drawingml/2006/main"/>
        </p:blipFill>
        <p:spPr>
          <a:xfrm xmlns:a="http://schemas.openxmlformats.org/drawingml/2006/main">
            <a:off x="5758450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3A106A5-3A75-4C57-A6AC-1221D14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SERVER GOVERNANCE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35955-23C2-4263-A58A-B175FE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HQ policy is discrete and retained across upgrades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680118A-5857-4407-9496-97CDA330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D43DA25-3DD9-4231-AEF7-4A91BF43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07BB8C-F595-460D-BE55-E0CB370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43075"/>
            <a:ext cx="3714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30 / 90 / 365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BB0222-F0DD-42B9-AD0E-9F9032B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5745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day operational data retention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C6B186-2055-4507-B8FF-5EE3D15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Also configurable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2E7C44-12AE-42D4-A367-7AB8E04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57625"/>
            <a:ext cx="3714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Offline-alert delay
Administrator session lifetime
Failed-login limit
Maintenance lifetime and uses
Signed-update auto-deployment</a:t>
            </a:r>
          </a:p>
        </p:txBody>
      </p:sp>
    </p:spTree>
    <p:extLst>
      <p:ext uri="{BB962C8B-B14F-4D97-AF65-F5344CB8AC3E}">
        <p14:creationId xmlns:p14="http://schemas.microsoft.com/office/powerpoint/2010/main" val="206659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6FC451A-7C67-4830-B00E-E6D6D75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RESILIENCE BY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ED7262-03FA-4604-9925-A8564627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Clients reconnect and Setup preserves state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CCECAF7-2BC1-4A82-9353-1C0B4A94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4A25598-0A50-448B-89C4-A85C4CBC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4734EACB-C631-42DD-A031-428CCACF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F8C0A7-7711-478A-8F2F-456EC58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443BCB-EF64-4852-BF96-5C6C340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Detect change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496139-7879-401F-9BDF-D214AF6F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Wake, network, server, and process changes trigger health checks.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212FA844-E866-482B-B8BA-DF2069CE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87A38F-A64D-47B9-83A4-9D17455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86186FE-79C9-4FF0-94CB-6D1A92D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Reconnect safely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DB6D46-F5B8-40C7-BAEE-5724CE69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Bounded retries re-resolve HQ and resume telemetry.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5369028-FED1-4181-BEE3-A46FA5B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501340-7398-4872-A374-5ABBB27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1366F6-76FD-4B86-8412-1BF0D8B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Back up before Setup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3C744C-8BF8-4F82-B502-C4419D6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617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Restricted backups retain identity, settings, logs, quarantine, and databases.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123CAF53-444C-4B22-8E00-3F162FCA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17057E-0EE4-4E6B-813E-ABB5C4A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EC98909-C203-4CBD-B569-0F2DCBB7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Migrate intentionally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436442-0074-4172-B6AF-066E54F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2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Existing values change only through explicit schema migrations.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CC4B0A-BF69-429A-834F-8C73068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24475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Result: a laptop can sleep or move networks, and an operator can run Setup, without silently resetting the security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796358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19A0437-850E-43A8-9CF2-C2AFC31B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TRUST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CAF3D3-B1CB-4B67-BF71-A3B44A3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Security controls constrain administrative power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41FD096-AFCC-4592-AF13-002012D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7950FBA-97EE-435E-BA49-9576B33B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B3CA68-742C-4F2A-99D9-0CB18F4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LOCAL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3D4A41-808D-4287-8C06-35D7D1B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Encrypted credentials
AES-256-GCM quarantine
Tamper-evident audit chain
Loopback-only dashboard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75D718-854A-4E33-9C9A-FE19270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NETWORK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317B9E-8383-42B8-8875-CB116EF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HTTPS management
Certificate pinning
Explicit firewall rules
Revocable device tokens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CBA54E-D456-4DEE-8135-57FDDC7A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ADMINISTRATION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EF977C-A28D-45D8-B35D-BBF83A0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Rotating passwords
One-time client approvals
Rate-limited attempts
Allowlisted commands only</a:t>
            </a:r>
          </a:p>
        </p:txBody>
      </p:sp>
      <p:sp>
        <p:nvSpPr>
          <p:cNvPr id="11" name="trust-boundary">
            <a:extLst xmlns:a="http://schemas.openxmlformats.org/drawingml/2006/main">
              <a:ext uri="{FF2B5EF4-FFF2-40B4-BE49-F238E27FC236}">
                <a16:creationId xmlns:a16="http://schemas.microsoft.com/office/drawing/2014/main" id="{78056267-110C-49FF-8B9F-2258CB8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09442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4D5616-A36C-411B-B93B-93E6D1B3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10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Important boundary: Endpointward is actively developed user-mode security. Keep Defender, Windows Firewall, SmartScreen, UAC, Secure Boot, and BitLocker enabled.</a:t>
            </a:r>
          </a:p>
        </p:txBody>
      </p:sp>
    </p:spTree>
    <p:extLst>
      <p:ext uri="{BB962C8B-B14F-4D97-AF65-F5344CB8AC3E}">
        <p14:creationId xmlns:p14="http://schemas.microsoft.com/office/powerpoint/2010/main" val="1284835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3F44B2D-F716-4E21-9A57-6E3BE31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STRATEGIC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75BCED-DEC8-4D0D-9BCB-81F01C2A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Open source improves control and flexibility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256E7EA-430E-4EFE-BAE9-EF9C479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C93376-6482-4C12-82FB-E1021ED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value-1">
            <a:extLst xmlns:a="http://schemas.openxmlformats.org/drawingml/2006/main">
              <a:ext uri="{FF2B5EF4-FFF2-40B4-BE49-F238E27FC236}">
                <a16:creationId xmlns:a16="http://schemas.microsoft.com/office/drawing/2014/main" id="{F2ABFD3C-1C39-4C3C-9F76-226E8A6D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E020CA-8DA0-4C47-B167-609DE1C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Apache 2.0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2BDD1C-53CB-49A6-8D55-5EF7B5F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Personal, internal, hosted, modified, and commercial use with notices.</a:t>
            </a:r>
          </a:p>
        </p:txBody>
      </p:sp>
      <p:sp>
        <p:nvSpPr>
          <p:cNvPr id="8" name="value-2">
            <a:extLst xmlns:a="http://schemas.openxmlformats.org/drawingml/2006/main">
              <a:ext uri="{FF2B5EF4-FFF2-40B4-BE49-F238E27FC236}">
                <a16:creationId xmlns:a16="http://schemas.microsoft.com/office/drawing/2014/main" id="{25255CB0-D1CB-4D1D-8FC0-8672FA9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9DE914-0542-4EE5-B074-35ED95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62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No mandatory cloud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0BCD55-6C99-4F30-AA5E-436FDBB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Protection works without HQ. Management remains self-hosted and optional.</a:t>
            </a:r>
          </a:p>
        </p:txBody>
      </p:sp>
      <p:sp>
        <p:nvSpPr>
          <p:cNvPr id="11" name="value-3">
            <a:extLst xmlns:a="http://schemas.openxmlformats.org/drawingml/2006/main">
              <a:ext uri="{FF2B5EF4-FFF2-40B4-BE49-F238E27FC236}">
                <a16:creationId xmlns:a16="http://schemas.microsoft.com/office/drawing/2014/main" id="{F1AD46D6-530F-4EA9-B100-2CC663C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DEA70D-65F9-41C1-B2C5-6FB80ED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Auditable stack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4B9417-F0B9-4C17-BED7-57BF43E0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JavaScript, PowerShell, C#, HTML, CSS, SQLite, and documented Windows integration.</a:t>
            </a:r>
          </a:p>
        </p:txBody>
      </p:sp>
      <p:sp>
        <p:nvSpPr>
          <p:cNvPr id="14" name="value-4">
            <a:extLst xmlns:a="http://schemas.openxmlformats.org/drawingml/2006/main">
              <a:ext uri="{FF2B5EF4-FFF2-40B4-BE49-F238E27FC236}">
                <a16:creationId xmlns:a16="http://schemas.microsoft.com/office/drawing/2014/main" id="{ADB61D0E-4DFF-481C-A5F4-BE36F6E1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9CCD4F-9427-4164-99A3-5ACBCDB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Portable operations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31A9E8-75C7-463E-902F-611B0599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Separate client and HQ installers support local labs and managed fleets.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2668FED-F41E-4698-9C12-6DA21B10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10200"/>
            <a:ext cx="9544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Current installers are reproducible but unsigned; production distribution should follow the code-signing policy.</a:t>
            </a:r>
          </a:p>
        </p:txBody>
      </p:sp>
    </p:spTree>
    <p:extLst>
      <p:ext uri="{BB962C8B-B14F-4D97-AF65-F5344CB8AC3E}">
        <p14:creationId xmlns:p14="http://schemas.microsoft.com/office/powerpoint/2010/main" val="17936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F5F9CA1-10FE-40B7-B238-ADB16F9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2116071-E8C4-42F7-8B60-3CBBAD1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Approve a controlled 30-day pilot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B088A2-B382-432A-BB4A-7CE561E4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904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Start small, preserve optionality, and measure operational behavior before wider adoption.</a:t>
            </a:r>
          </a:p>
        </p:txBody>
      </p:sp>
      <p:sp>
        <p:nvSpPr>
          <p:cNvPr id="4" name="pilot-scope">
            <a:extLst xmlns:a="http://schemas.openxmlformats.org/drawingml/2006/main">
              <a:ext uri="{FF2B5EF4-FFF2-40B4-BE49-F238E27FC236}">
                <a16:creationId xmlns:a16="http://schemas.microsoft.com/office/drawing/2014/main" id="{9F32C635-025B-4561-BC21-E4EBB74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3333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B324A2-3D47-454D-AEC8-5EFDD7A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Pilot scope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67FA6B-3E01-4593-9E18-C606714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1 HQ server
5 representative endpoints
IT-managed enrollment</a:t>
            </a:r>
          </a:p>
        </p:txBody>
      </p:sp>
      <p:sp>
        <p:nvSpPr>
          <p:cNvPr id="7" name="pilot-measures">
            <a:extLst xmlns:a="http://schemas.openxmlformats.org/drawingml/2006/main">
              <a:ext uri="{FF2B5EF4-FFF2-40B4-BE49-F238E27FC236}">
                <a16:creationId xmlns:a16="http://schemas.microsoft.com/office/drawing/2014/main" id="{3132A108-C989-4DA1-856D-DF15156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3333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511EC6-20CC-4F2F-9FBF-D32DCDE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7B0C4E-4365-45D3-B965-C74DDA0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762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Reconnect after sleep/network changes
Alert and approval workflow
State retention through Setup</a:t>
            </a:r>
          </a:p>
        </p:txBody>
      </p:sp>
      <p:sp>
        <p:nvSpPr>
          <p:cNvPr id="10" name="pilot-gate">
            <a:extLst xmlns:a="http://schemas.openxmlformats.org/drawingml/2006/main">
              <a:ext uri="{FF2B5EF4-FFF2-40B4-BE49-F238E27FC236}">
                <a16:creationId xmlns:a16="http://schemas.microsoft.com/office/drawing/2014/main" id="{A5579064-FD7F-4D4D-9A24-41B0332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543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6C50CB1-27B6-4164-B2F0-795A5521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5D3A9"/>
                </a:solidFill>
                <a:latin typeface="Arial"/>
                <a:ea typeface="Arial"/>
                <a:cs typeface="Arial"/>
              </a:defRPr>
            </a:pPr>
            <a:r>
              <a:t>Exit gate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C63707-53C6-4333-BA44-9DADB591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Review evidence, code-signing readiness, support ownership, and policy before scale.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274F3B-289F-4897-9A0D-FC91084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Recommended next action: nominate an IT owner and pilot device group.</a:t>
            </a:r>
          </a:p>
        </p:txBody>
      </p:sp>
      <p:sp>
        <p:nvSpPr>
          <p:cNvPr id="1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95548E2-7E54-4457-ACA9-E504BEE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ENDPOINTWARD • MANAGEMENT DECISION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ADF7C2B-0BBD-4ED2-91FC-5CC11CC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1809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2026-07-04T17:54:33.7060000Z</dcterms:created>
  <dcterms:modified xsi:type="dcterms:W3CDTF">2026-07-04T17:54:33.7060000Z</dcterms:modified>
</coreProperties>
</file>